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0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5" r:id="rId16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16" Type="http://schemas.openxmlformats.org/officeDocument/2006/relationships/slide" Target="slides/slide10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HappyRobot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1371600"/>
            <a:ext cx="77724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Inbound Carrier</a:t>
            </a:r>
            <a:endParaRPr lang="en-US" sz="5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Automation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548640" y="320040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purpose-built AI solution for Acme Logistics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3931920"/>
            <a:ext cx="804672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411480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HappyRobot · April 2026 · Confidential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4630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1920240"/>
            <a:ext cx="7772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Today, every inbound carrier</a:t>
            </a:r>
            <a:endParaRPr lang="en-US" sz="3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is handled manually.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640080" y="3108960"/>
            <a:ext cx="6858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means inconsistent outcomes, capped capacity, and zero visibility after the call ends.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 Today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804672"/>
            <a:ext cx="457200" cy="36576"/>
          </a:xfrm>
          <a:prstGeom prst="rect">
            <a:avLst/>
          </a:prstGeom>
          <a:solidFill>
            <a:srgbClr val="374151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1440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3 min avg call  ·  57% booking rate  ·  24/7 coverage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1143000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1344168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 Verification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1572768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collects the carrier's MC number and verifies FMCSA eligibility in real time before any load is offered.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2286000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48640" y="2487168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Search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2715768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searches by origin city, equipment type, and availability — with automatic fallback if no exact match is found.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8640" y="3429000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48640" y="3630168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Pitch &amp; Negotiate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8640" y="3858768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presents the best matching load with rate, fuel estimate, and commodity detail. Handles up to three rounds of negotiation.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754880" y="1143000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754880" y="1344168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&amp; Confirm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754880" y="1572768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agreement, the load is instantly booked and a confirmation email is sent to the carrier automatically.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754880" y="2286000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754880" y="2487168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Circuit &amp; Waitlist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754880" y="2715768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booking, agent offers a return load. If no match, carrier is added to a lane waitlist for future callback.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754880" y="3429000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754880" y="3630168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Post-Call Analysis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754880" y="3858768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post-call AI node reads the full transcript and extracts structured data — outcome, rates, sentiment — logged automatically.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26280" y="1097280"/>
            <a:ext cx="0" cy="347472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Manual Calls Don't Scale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804672"/>
            <a:ext cx="548640" cy="36576"/>
          </a:xfrm>
          <a:prstGeom prst="rect">
            <a:avLst/>
          </a:prstGeom>
          <a:solidFill>
            <a:srgbClr val="374151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144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structural problems with the current approach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155448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548640" y="23317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Capacity Cap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2743200"/>
            <a:ext cx="2377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call takes 8–12 minutes. A team of five brokers handling 50+ calls per day has no time left for anything else.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383280" y="155448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4800" dirty="0"/>
          </a:p>
        </p:txBody>
      </p:sp>
      <p:sp>
        <p:nvSpPr>
          <p:cNvPr id="9" name="Text 7"/>
          <p:cNvSpPr/>
          <p:nvPr/>
        </p:nvSpPr>
        <p:spPr>
          <a:xfrm>
            <a:off x="3383280" y="23317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Consistency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383280" y="2743200"/>
            <a:ext cx="2377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Negotiation quality depends on who answers. New reps close differently from experienced brokers. Margins leak unpredictably.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217920" y="155448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4800" dirty="0"/>
          </a:p>
        </p:txBody>
      </p:sp>
      <p:sp>
        <p:nvSpPr>
          <p:cNvPr id="12" name="Text 10"/>
          <p:cNvSpPr/>
          <p:nvPr/>
        </p:nvSpPr>
        <p:spPr>
          <a:xfrm>
            <a:off x="6217920" y="23317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After-Hours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217920" y="2743200"/>
            <a:ext cx="2377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Carriers call evenings and weekends. Every unanswered call is a missed booking. No system. No fallback. No data.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200400" y="1463040"/>
            <a:ext cx="0" cy="292608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080760" y="1463040"/>
            <a:ext cx="0" cy="292608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3716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1828800"/>
            <a:ext cx="8229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 every call.</a:t>
            </a:r>
            <a:endParaRPr lang="en-US" sz="4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every load.</a:t>
            </a:r>
            <a:endParaRPr lang="en-US" sz="4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Around the clock.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640080" y="3566160"/>
            <a:ext cx="6858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HappyRobot replaces the manual call process with an AI voice agent that handles verification, matching, negotiation, and booking — without human intervention.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Agent Does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804672"/>
            <a:ext cx="548640" cy="36576"/>
          </a:xfrm>
          <a:prstGeom prst="rect">
            <a:avLst/>
          </a:prstGeom>
          <a:solidFill>
            <a:srgbClr val="374151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18872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150876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&amp; Qualify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182880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FMCSA eligibility on every call. Recognises returning carriers by name and references their last booked lane.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278892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310896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Load Matching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48640" y="342900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Searches by origin, equipment, and date. Relaxes filters automatically when no exact match is found.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383280" y="118872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383280" y="150876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Negotiation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383280" y="182880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Counters intelligently across up to 3 rounds. Never matches the carrier's ask directly. Closes within 10% of the loadboard rate.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383280" y="278892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383280" y="310896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Circuit Planning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383280" y="342900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every booking, searches for a return load from the delivery city — proactively maximising driver utilisation.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217920" y="118872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217920" y="150876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Waitlist &amp; Rate Hold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217920" y="182880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loads? Adds carrier to the lane waitlist. Rate gap? Saves as a rate hold and flags when budget aligns.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217920" y="278892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217920" y="310896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Post-Call Analysis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217920" y="342900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extracts outcome, rates, negotiation count, and sentiment from the full transcript — structured data, every call.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200400" y="1097280"/>
            <a:ext cx="0" cy="320040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080760" y="1097280"/>
            <a:ext cx="0" cy="320040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Visibility. Real-Time.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804672"/>
            <a:ext cx="548640" cy="36576"/>
          </a:xfrm>
          <a:prstGeom prst="rect">
            <a:avLst/>
          </a:prstGeom>
          <a:solidFill>
            <a:srgbClr val="374151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97280"/>
            <a:ext cx="3749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call generates structured data. The HappyRobot analytics dashboard — built custom, not from the platform's default analytics — gives Acme Logistics complete operational visibility.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167128"/>
            <a:ext cx="91440" cy="91440"/>
          </a:xfrm>
          <a:prstGeom prst="ellipse">
            <a:avLst/>
          </a:prstGeom>
          <a:solidFill>
            <a:srgbClr val="374151"/>
          </a:solidFill>
          <a:ln/>
        </p:spPr>
      </p:sp>
      <p:sp>
        <p:nvSpPr>
          <p:cNvPr id="6" name="Text 4"/>
          <p:cNvSpPr/>
          <p:nvPr/>
        </p:nvSpPr>
        <p:spPr>
          <a:xfrm>
            <a:off x="713232" y="2103120"/>
            <a:ext cx="33832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13232" y="2359152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 rate, revenue booked vs. at risk, rate compression, daily call volume trend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2807208"/>
            <a:ext cx="91440" cy="91440"/>
          </a:xfrm>
          <a:prstGeom prst="ellipse">
            <a:avLst/>
          </a:prstGeom>
          <a:solidFill>
            <a:srgbClr val="374151"/>
          </a:solidFill>
          <a:ln/>
        </p:spPr>
      </p:sp>
      <p:sp>
        <p:nvSpPr>
          <p:cNvPr id="9" name="Text 7"/>
          <p:cNvSpPr/>
          <p:nvPr/>
        </p:nvSpPr>
        <p:spPr>
          <a:xfrm>
            <a:off x="713232" y="2743200"/>
            <a:ext cx="33832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Lane Performance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13232" y="2999232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10 routes ranked by calls, conversion rate, and average agreed rate vs. loadboard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3447288"/>
            <a:ext cx="91440" cy="91440"/>
          </a:xfrm>
          <a:prstGeom prst="ellipse">
            <a:avLst/>
          </a:prstGeom>
          <a:solidFill>
            <a:srgbClr val="374151"/>
          </a:solidFill>
          <a:ln/>
        </p:spPr>
      </p:sp>
      <p:sp>
        <p:nvSpPr>
          <p:cNvPr id="12" name="Text 10"/>
          <p:cNvSpPr/>
          <p:nvPr/>
        </p:nvSpPr>
        <p:spPr>
          <a:xfrm>
            <a:off x="713232" y="3383280"/>
            <a:ext cx="33832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Carrier Intelligence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13232" y="3639312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by carrier MC, booking history, returning carrier recognition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4087368"/>
            <a:ext cx="91440" cy="91440"/>
          </a:xfrm>
          <a:prstGeom prst="ellipse">
            <a:avLst/>
          </a:prstGeom>
          <a:solidFill>
            <a:srgbClr val="374151"/>
          </a:solidFill>
          <a:ln/>
        </p:spPr>
      </p:sp>
      <p:sp>
        <p:nvSpPr>
          <p:cNvPr id="15" name="Text 13"/>
          <p:cNvSpPr/>
          <p:nvPr/>
        </p:nvSpPr>
        <p:spPr>
          <a:xfrm>
            <a:off x="713232" y="4023360"/>
            <a:ext cx="33832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13232" y="4279392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loads, waitlist entries, rate holds, and callback matches in a live operations tab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892040" y="1097280"/>
            <a:ext cx="3611880" cy="777240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18" name="Shape 16"/>
          <p:cNvSpPr/>
          <p:nvPr/>
        </p:nvSpPr>
        <p:spPr>
          <a:xfrm>
            <a:off x="4892040" y="1097280"/>
            <a:ext cx="54864" cy="777240"/>
          </a:xfrm>
          <a:prstGeom prst="rect">
            <a:avLst/>
          </a:prstGeom>
          <a:solidFill>
            <a:srgbClr val="374151"/>
          </a:solidFill>
          <a:ln/>
        </p:spPr>
      </p:sp>
      <p:sp>
        <p:nvSpPr>
          <p:cNvPr id="19" name="Text 17"/>
          <p:cNvSpPr/>
          <p:nvPr/>
        </p:nvSpPr>
        <p:spPr>
          <a:xfrm>
            <a:off x="5029200" y="1152144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57%</a:t>
            </a:r>
            <a:endParaRPr lang="en-US" sz="3400" dirty="0"/>
          </a:p>
        </p:txBody>
      </p:sp>
      <p:sp>
        <p:nvSpPr>
          <p:cNvPr id="20" name="Text 18"/>
          <p:cNvSpPr/>
          <p:nvPr/>
        </p:nvSpPr>
        <p:spPr>
          <a:xfrm>
            <a:off x="5029200" y="1581912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 conversion rate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892040" y="2011680"/>
            <a:ext cx="3611880" cy="777240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22" name="Shape 20"/>
          <p:cNvSpPr/>
          <p:nvPr/>
        </p:nvSpPr>
        <p:spPr>
          <a:xfrm>
            <a:off x="4892040" y="2011680"/>
            <a:ext cx="54864" cy="777240"/>
          </a:xfrm>
          <a:prstGeom prst="rect">
            <a:avLst/>
          </a:prstGeom>
          <a:solidFill>
            <a:srgbClr val="374151"/>
          </a:solidFill>
          <a:ln/>
        </p:spPr>
      </p:sp>
      <p:sp>
        <p:nvSpPr>
          <p:cNvPr id="23" name="Text 21"/>
          <p:cNvSpPr/>
          <p:nvPr/>
        </p:nvSpPr>
        <p:spPr>
          <a:xfrm>
            <a:off x="5029200" y="2066544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3 min</a:t>
            </a:r>
            <a:endParaRPr lang="en-US" sz="3400" dirty="0"/>
          </a:p>
        </p:txBody>
      </p:sp>
      <p:sp>
        <p:nvSpPr>
          <p:cNvPr id="24" name="Text 22"/>
          <p:cNvSpPr/>
          <p:nvPr/>
        </p:nvSpPr>
        <p:spPr>
          <a:xfrm>
            <a:off x="5029200" y="2496312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call duration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892040" y="2926080"/>
            <a:ext cx="3611880" cy="777240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26" name="Shape 24"/>
          <p:cNvSpPr/>
          <p:nvPr/>
        </p:nvSpPr>
        <p:spPr>
          <a:xfrm>
            <a:off x="4892040" y="2926080"/>
            <a:ext cx="54864" cy="777240"/>
          </a:xfrm>
          <a:prstGeom prst="rect">
            <a:avLst/>
          </a:prstGeom>
          <a:solidFill>
            <a:srgbClr val="374151"/>
          </a:solidFill>
          <a:ln/>
        </p:spPr>
      </p:sp>
      <p:sp>
        <p:nvSpPr>
          <p:cNvPr id="27" name="Text 25"/>
          <p:cNvSpPr/>
          <p:nvPr/>
        </p:nvSpPr>
        <p:spPr>
          <a:xfrm>
            <a:off x="5029200" y="2980944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3400" dirty="0"/>
          </a:p>
        </p:txBody>
      </p:sp>
      <p:sp>
        <p:nvSpPr>
          <p:cNvPr id="28" name="Text 26"/>
          <p:cNvSpPr/>
          <p:nvPr/>
        </p:nvSpPr>
        <p:spPr>
          <a:xfrm>
            <a:off x="5029200" y="3410712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calls logged automatically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892040" y="3840480"/>
            <a:ext cx="3611880" cy="777240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30" name="Shape 28"/>
          <p:cNvSpPr/>
          <p:nvPr/>
        </p:nvSpPr>
        <p:spPr>
          <a:xfrm>
            <a:off x="4892040" y="3840480"/>
            <a:ext cx="54864" cy="777240"/>
          </a:xfrm>
          <a:prstGeom prst="rect">
            <a:avLst/>
          </a:prstGeom>
          <a:solidFill>
            <a:srgbClr val="374151"/>
          </a:solidFill>
          <a:ln/>
        </p:spPr>
      </p:sp>
      <p:sp>
        <p:nvSpPr>
          <p:cNvPr id="31" name="Text 29"/>
          <p:cNvSpPr/>
          <p:nvPr/>
        </p:nvSpPr>
        <p:spPr>
          <a:xfrm>
            <a:off x="5029200" y="3895344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mos</a:t>
            </a:r>
            <a:endParaRPr lang="en-US" sz="3400" dirty="0"/>
          </a:p>
        </p:txBody>
      </p:sp>
      <p:sp>
        <p:nvSpPr>
          <p:cNvPr id="32" name="Text 30"/>
          <p:cNvSpPr/>
          <p:nvPr/>
        </p:nvSpPr>
        <p:spPr>
          <a:xfrm>
            <a:off x="5029200" y="4325112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negotiation data, visible in one dashboard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4663440" y="1005840"/>
            <a:ext cx="0" cy="374904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Business Case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804672"/>
            <a:ext cx="548640" cy="36576"/>
          </a:xfrm>
          <a:prstGeom prst="rect">
            <a:avLst/>
          </a:prstGeom>
          <a:solidFill>
            <a:srgbClr val="374151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9728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60%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548640" y="18745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reduction in rep time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217627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inbound carrier calls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474720" y="109728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3×</a:t>
            </a:r>
            <a:endParaRPr lang="en-US" sz="5600" dirty="0"/>
          </a:p>
        </p:txBody>
      </p:sp>
      <p:sp>
        <p:nvSpPr>
          <p:cNvPr id="8" name="Text 6"/>
          <p:cNvSpPr/>
          <p:nvPr/>
        </p:nvSpPr>
        <p:spPr>
          <a:xfrm>
            <a:off x="3474720" y="18745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calls handled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474720" y="217627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adding headcount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0" y="109728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24/7</a:t>
            </a:r>
            <a:endParaRPr lang="en-US" sz="5600" dirty="0"/>
          </a:p>
        </p:txBody>
      </p:sp>
      <p:sp>
        <p:nvSpPr>
          <p:cNvPr id="11" name="Text 9"/>
          <p:cNvSpPr/>
          <p:nvPr/>
        </p:nvSpPr>
        <p:spPr>
          <a:xfrm>
            <a:off x="6400800" y="18745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coverage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00800" y="217627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including evenings and weekends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337560" y="1005840"/>
            <a:ext cx="0" cy="169164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63640" y="1005840"/>
            <a:ext cx="0" cy="169164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48640" y="2606040"/>
            <a:ext cx="804672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743200"/>
          <a:ext cx="804672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2743200"/>
                <a:gridCol w="3108960"/>
              </a:tblGrid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Without HappyRobot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With HappyRobot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Coverage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Business hours only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 hours / 7 days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8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Handle time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8–12 min per call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Under 3 minutes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8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After-hours bookings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Zero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 coverage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8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Post-call data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Manual, partial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Automated, structured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Let's get started.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7863840" cy="0"/>
          </a:xfrm>
          <a:prstGeom prst="line">
            <a:avLst/>
          </a:prstGeom>
          <a:noFill/>
          <a:ln w="6350">
            <a:solidFill>
              <a:srgbClr val="2A334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82880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640080" y="251460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2880360"/>
            <a:ext cx="2560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walk through a real call end-to-end — carrier calls in, agent verifies, searches, negotiates, and books.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474720" y="182880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3474720" y="251460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474720" y="2880360"/>
            <a:ext cx="2560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connect to Acme Logistics' load data and calibrate the agent's rate strategy and lane preferences.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309360" y="182880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6309360" y="251460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Live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309360" y="2880360"/>
            <a:ext cx="2560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on inbound traffic. Full analytics from call one. Typically live within one week of sign-off.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337560" y="1691640"/>
            <a:ext cx="0" cy="2834640"/>
          </a:xfrm>
          <a:prstGeom prst="line">
            <a:avLst/>
          </a:prstGeom>
          <a:noFill/>
          <a:ln w="6350">
            <a:solidFill>
              <a:srgbClr val="2A334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172200" y="1691640"/>
            <a:ext cx="0" cy="2834640"/>
          </a:xfrm>
          <a:prstGeom prst="line">
            <a:avLst/>
          </a:prstGeom>
          <a:noFill/>
          <a:ln w="6350">
            <a:solidFill>
              <a:srgbClr val="2A334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47548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hello@happyrobot.ai  ·  happyrobot.ai  ·  HappyRobot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FFFF"/>
                </a:solidFill>
                <a:latin typeface="Calibri" pitchFamily="34" charset="0"/>
              </a:rPr>
              <a:t>AGENT OBJECTIVES</a:t>
            </a:r>
          </a:p>
        </p:txBody>
      </p:sp>
      <p:sp>
        <p:nvSpPr>
          <p:cNvPr id="3" name="Headline"/>
          <p:cNvSpPr/>
          <p:nvPr/>
        </p:nvSpPr>
        <p:spPr>
          <a:xfrm>
            <a:off x="640080" y="82296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</a:rPr>
              <a:t>Every call is an opportunity.</a:t>
            </a:r>
          </a:p>
        </p:txBody>
      </p:sp>
      <p:sp>
        <p:nvSpPr>
          <p:cNvPr id="4" name="Div1"/>
          <p:cNvSpPr/>
          <p:nvPr/>
        </p:nvSpPr>
        <p:spPr>
          <a:xfrm>
            <a:off x="640080" y="1463040"/>
            <a:ext cx="7772400" cy="18288"/>
          </a:xfrm>
          <a:prstGeom prst="rect">
            <a:avLst/>
          </a:prstGeom>
          <a:solidFill>
            <a:srgbClr val="2A3450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Obj1"/>
          <p:cNvSpPr/>
          <p:nvPr/>
        </p:nvSpPr>
        <p:spPr>
          <a:xfrm>
            <a:off x="640080" y="1554120"/>
            <a:ext cx="25603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Bef>
                <a:spcPts val="0"/>
              </a:spcBef>
              <a:buNone/>
            </a:pPr>
            <a:r>
              <a:rPr lang="en-US" sz="1000" b="1" spc="200" dirty="0">
                <a:solidFill>
                  <a:srgbClr val="6B7280"/>
                </a:solidFill>
                <a:latin typeface="Calibri" pitchFamily="34" charset="0"/>
              </a:rPr>
              <a:t>01</a:t>
            </a:r>
          </a:p>
          <a:p>
            <a:pPr indent="0" marL="0">
              <a:spcBef>
                <a:spcPts val="300"/>
              </a:spcBef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</a:rPr>
              <a:t>Maximise Booking Rate</a:t>
            </a:r>
          </a:p>
          <a:p>
            <a:pPr indent="0" marL="0">
              <a:spcBef>
                <a:spcPts val="400"/>
              </a:spcBef>
              <a:lnSpc>
                <a:spcPct val="140000"/>
              </a:lnSpc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</a:rPr>
              <a:t>Intelligent matching, rate pitching, and up to three negotiation rounds give every call the best chance of a booking.</a:t>
            </a:r>
          </a:p>
        </p:txBody>
      </p:sp>
      <p:sp>
        <p:nvSpPr>
          <p:cNvPr id="6" name="Obj2"/>
          <p:cNvSpPr/>
          <p:nvPr/>
        </p:nvSpPr>
        <p:spPr>
          <a:xfrm>
            <a:off x="3383280" y="1554120"/>
            <a:ext cx="25603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Bef>
                <a:spcPts val="0"/>
              </a:spcBef>
              <a:buNone/>
            </a:pPr>
            <a:r>
              <a:rPr lang="en-US" sz="1000" b="1" spc="200" dirty="0">
                <a:solidFill>
                  <a:srgbClr val="6B7280"/>
                </a:solidFill>
                <a:latin typeface="Calibri" pitchFamily="34" charset="0"/>
              </a:rPr>
              <a:t>02</a:t>
            </a:r>
          </a:p>
          <a:p>
            <a:pPr indent="0" marL="0">
              <a:spcBef>
                <a:spcPts val="300"/>
              </a:spcBef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</a:rPr>
              <a:t>Maximise Load Coverage</a:t>
            </a:r>
          </a:p>
          <a:p>
            <a:pPr indent="0" marL="0">
              <a:spcBef>
                <a:spcPts val="400"/>
              </a:spcBef>
              <a:lnSpc>
                <a:spcPct val="140000"/>
              </a:lnSpc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</a:rPr>
              <a:t>No open load goes without a carrier. Circuit planning and waitlist management keep every trip covered before the pickup window closes.</a:t>
            </a:r>
          </a:p>
        </p:txBody>
      </p:sp>
      <p:sp>
        <p:nvSpPr>
          <p:cNvPr id="7" name="Obj3"/>
          <p:cNvSpPr/>
          <p:nvPr/>
        </p:nvSpPr>
        <p:spPr>
          <a:xfrm>
            <a:off x="6126480" y="1554120"/>
            <a:ext cx="25603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Bef>
                <a:spcPts val="0"/>
              </a:spcBef>
              <a:buNone/>
            </a:pPr>
            <a:r>
              <a:rPr lang="en-US" sz="1000" b="1" spc="200" dirty="0">
                <a:solidFill>
                  <a:srgbClr val="6B7280"/>
                </a:solidFill>
                <a:latin typeface="Calibri" pitchFamily="34" charset="0"/>
              </a:rPr>
              <a:t>03</a:t>
            </a:r>
          </a:p>
          <a:p>
            <a:pPr indent="0" marL="0">
              <a:spcBef>
                <a:spcPts val="300"/>
              </a:spcBef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</a:rPr>
              <a:t>Maximise Call Data</a:t>
            </a:r>
          </a:p>
          <a:p>
            <a:pPr indent="0" marL="0">
              <a:spcBef>
                <a:spcPts val="400"/>
              </a:spcBef>
              <a:lnSpc>
                <a:spcPct val="140000"/>
              </a:lnSpc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</a:rPr>
              <a:t>Every call — booked, declined, or waitlisted — generates structured data. Outcome, rate, sentiment, and negotiation count logged automatically.</a:t>
            </a:r>
          </a:p>
        </p:txBody>
      </p:sp>
      <p:sp>
        <p:nvSpPr>
          <p:cNvPr id="8" name="Div2"/>
          <p:cNvSpPr/>
          <p:nvPr/>
        </p:nvSpPr>
        <p:spPr>
          <a:xfrm>
            <a:off x="640080" y="3017160"/>
            <a:ext cx="7772400" cy="18288"/>
          </a:xfrm>
          <a:prstGeom prst="rect">
            <a:avLst/>
          </a:prstGeom>
          <a:solidFill>
            <a:srgbClr val="2A3450"/>
          </a:solidFill>
          <a:ln>
            <a:noFill/>
          </a:ln>
        </p:spPr>
        <p:txBody>
          <a:bodyPr/>
          <a:lstStyle/>
          <a:p/>
        </p:txBody>
      </p:sp>
      <p:sp>
        <p:nvSpPr>
          <p:cNvPr id="9" name="CarrierLabel"/>
          <p:cNvSpPr/>
          <p:nvPr/>
        </p:nvSpPr>
        <p:spPr>
          <a:xfrm>
            <a:off x="640080" y="3108600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6B7280"/>
                </a:solidFill>
                <a:latin typeface="Calibri" pitchFamily="34" charset="0"/>
              </a:rPr>
              <a:t>VALUE TO CARRIERS</a:t>
            </a:r>
          </a:p>
        </p:txBody>
      </p:sp>
      <p:sp>
        <p:nvSpPr>
          <p:cNvPr id="10" name="Carrier1"/>
          <p:cNvSpPr/>
          <p:nvPr/>
        </p:nvSpPr>
        <p:spPr>
          <a:xfrm>
            <a:off x="640080" y="3382200"/>
            <a:ext cx="38404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Bef>
                <a:spcPts val="0"/>
              </a:spcBef>
              <a:buNone/>
            </a:pPr>
            <a:r>
              <a:rPr lang="en-US" sz="1000" b="1" spc="200" dirty="0">
                <a:solidFill>
                  <a:srgbClr val="6B7280"/>
                </a:solidFill>
                <a:latin typeface="Calibri" pitchFamily="34" charset="0"/>
              </a:rPr>
              <a:t>01</a:t>
            </a:r>
          </a:p>
          <a:p>
            <a:pPr indent="0" marL="0">
              <a:spcBef>
                <a:spcPts val="300"/>
              </a:spcBef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</a:rPr>
              <a:t>24/7 Availability</a:t>
            </a:r>
          </a:p>
          <a:p>
            <a:pPr indent="0" marL="0">
              <a:spcBef>
                <a:spcPts val="400"/>
              </a:spcBef>
              <a:lnSpc>
                <a:spcPct val="140000"/>
              </a:lnSpc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</a:rPr>
              <a:t>Carriers can call and book at any hour — evenings, weekends, and overnight. No missed calls, no voicemails, no callbacks needed.</a:t>
            </a:r>
          </a:p>
        </p:txBody>
      </p:sp>
      <p:sp>
        <p:nvSpPr>
          <p:cNvPr id="11" name="Carrier2"/>
          <p:cNvSpPr/>
          <p:nvPr/>
        </p:nvSpPr>
        <p:spPr>
          <a:xfrm>
            <a:off x="4846320" y="3382200"/>
            <a:ext cx="38404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Bef>
                <a:spcPts val="0"/>
              </a:spcBef>
              <a:buNone/>
            </a:pPr>
            <a:r>
              <a:rPr lang="en-US" sz="1000" b="1" spc="200" dirty="0">
                <a:solidFill>
                  <a:srgbClr val="6B7280"/>
                </a:solidFill>
                <a:latin typeface="Calibri" pitchFamily="34" charset="0"/>
              </a:rPr>
              <a:t>02</a:t>
            </a:r>
          </a:p>
          <a:p>
            <a:pPr indent="0" marL="0">
              <a:spcBef>
                <a:spcPts val="300"/>
              </a:spcBef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</a:rPr>
              <a:t>Consistent Experience</a:t>
            </a:r>
          </a:p>
          <a:p>
            <a:pPr indent="0" marL="0">
              <a:spcBef>
                <a:spcPts val="400"/>
              </a:spcBef>
              <a:lnSpc>
                <a:spcPct val="140000"/>
              </a:lnSpc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</a:rPr>
              <a:t>Every call handled the same way — same process, same professionalism, every time. Carriers always know what to expect, building trust and satisfaction.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2026-04-21T07:49:04Z</dcterms:created>
  <dcterms:modified xsi:type="dcterms:W3CDTF">2026-04-21T07:49:04Z</dcterms:modified>
</cp:coreProperties>
</file>